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92166"/>
            <a:ext cx="428625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F2C4C"/>
                </a:solidFill>
              </a:rPr>
              <a:t>Phân Tích Dự 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F2C4C"/>
                </a:solidFill>
              </a:rPr>
              <a:t>Đoán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F2C4C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F2C4C"/>
                </a:solidFill>
              </a:rPr>
              <a:t>Tái Nhập Viện Với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F2C4C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F2C4C"/>
                </a:solidFill>
              </a:rPr>
              <a:t>LightGBM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518102"/>
            <a:ext cx="42862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4E68"/>
                </a:solidFill>
              </a:rPr>
              <a:t>Giảm Tỷ Lệ Tái Nhập Viện Bằng Data Science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340526"/>
            <a:ext cx="111147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4084" y="4314630"/>
            <a:ext cx="11844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100,000+ Records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4" y="4340526"/>
            <a:ext cx="111147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49708" y="4314630"/>
            <a:ext cx="90482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E68"/>
                </a:solidFill>
              </a:rPr>
              <a:t>130 Hospitals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Quy Trình Xử Lý Dữ Liệu (Data Pipeline)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434945"/>
            <a:ext cx="285750" cy="28575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3494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01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000125" y="1577820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Làm sạch dữ liệu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000125" y="1815350"/>
            <a:ext cx="32718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Xử lý giá trị thiếu (?), loại bỏ các đặc trưng không liên quan như IDs bệnh nhân và IDs cuộc gặp.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571500" y="2329700"/>
            <a:ext cx="285750" cy="28575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3297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02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000125" y="2472575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Kỹ thuật đặc trưng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000125" y="2710104"/>
            <a:ext cx="32718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Mã hóa biến mục tiêu (Readmitted &lt; 30 ngày), gom nhóm các mã chẩn đoán ICD-9 thành các danh mục bệnh lý.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500" y="3224454"/>
            <a:ext cx="285750" cy="28575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22445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03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000125" y="3367329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Chuẩn hóa &amp; Mã hóa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000125" y="3604859"/>
            <a:ext cx="32718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Chuyển đổi các biến phân loại thành dạng số thông qua One-hot encoding và Label encoding cho mô hình.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571500" y="4119209"/>
            <a:ext cx="285750" cy="28575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411920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04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000125" y="4262084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Phân tách dữ liệu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1000125" y="4499614"/>
            <a:ext cx="32718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Chia dữ liệu thành tập Train/Test (80/20) để đảm bảo tính khách quan và tránh rò rỉ dữ liệu khi đánh giá.</a:t>
            </a:r>
            <a:endParaRPr lang="en-US" sz="834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88" y="1434945"/>
            <a:ext cx="3871913" cy="28717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3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Giải Quyết Mất Cân Bằng Dữ Liệu Với SMOTE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577820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Thách thức dữ liệu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829637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Chỉ ~11% bệnh nhân tái nhập viện, khiến mô hình dễ bị thiên kiến (bias) và bỏ sót các ca bệnh thực sự.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2608306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Kỹ thuật SMOTE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860123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Sử dụng thuật toán lân cận gần nhất để tạo ra các mẫu dữ liệu giả lập cho lớp thiểu số, giúp cân bằng tập huấn luyện.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3638792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Kết quả cải thiện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890609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Cải thiện đáng kể chỉ số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E68"/>
                </a:solidFill>
              </a:rPr>
              <a:t>Recall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, giúp mô hình nhận diện tốt hơn các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bệnh nhân có nguy cơ cao.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4669278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Ý nghĩa lâm sàng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4921095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Chuyển đổi từ một mô hình dự đoán bị lệch sang một hệ thống cảnh báo sớm có giá trị thực tiễn cao cho bệnh viện.</a:t>
            </a:r>
            <a:endParaRPr lang="en-US" sz="83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88" y="1434945"/>
            <a:ext cx="3871913" cy="2871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So Sánh Hiệu Suất Các Mô Hình (Benchmarking)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434945"/>
            <a:ext cx="8001000" cy="20466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34945"/>
            <a:ext cx="2397621" cy="403622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34945"/>
            <a:ext cx="2397621" cy="4036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Mô hình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969121" y="1434945"/>
            <a:ext cx="1377600" cy="403622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8" name="Text 5"/>
          <p:cNvSpPr/>
          <p:nvPr/>
        </p:nvSpPr>
        <p:spPr>
          <a:xfrm>
            <a:off x="2969121" y="1434945"/>
            <a:ext cx="1377600" cy="4036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ROC AUC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4346721" y="1434945"/>
            <a:ext cx="1209331" cy="403622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0" name="Text 7"/>
          <p:cNvSpPr/>
          <p:nvPr/>
        </p:nvSpPr>
        <p:spPr>
          <a:xfrm>
            <a:off x="4346721" y="1434945"/>
            <a:ext cx="1209331" cy="4036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Recall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5556052" y="1434945"/>
            <a:ext cx="1596433" cy="403622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2" name="Text 9"/>
          <p:cNvSpPr/>
          <p:nvPr/>
        </p:nvSpPr>
        <p:spPr>
          <a:xfrm>
            <a:off x="5556052" y="1434945"/>
            <a:ext cx="1596433" cy="4036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Precision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7152484" y="1434945"/>
            <a:ext cx="1420016" cy="403622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4" name="Text 11"/>
          <p:cNvSpPr/>
          <p:nvPr/>
        </p:nvSpPr>
        <p:spPr>
          <a:xfrm>
            <a:off x="7152484" y="1434945"/>
            <a:ext cx="1420016" cy="40362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F1-Score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571500" y="1838567"/>
            <a:ext cx="8001000" cy="407194"/>
          </a:xfrm>
          <a:prstGeom prst="rect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1838567"/>
            <a:ext cx="2397621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4E68"/>
                </a:solidFill>
              </a:rPr>
              <a:t>LightGBM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969121" y="1838567"/>
            <a:ext cx="1377600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96"/>
                </a:solidFill>
              </a:rPr>
              <a:t>0.5451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346721" y="1838567"/>
            <a:ext cx="1209331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4E68"/>
                </a:solidFill>
              </a:rPr>
              <a:t>0.3824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556052" y="1838567"/>
            <a:ext cx="1596433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4E68"/>
                </a:solidFill>
              </a:rPr>
              <a:t>0.1262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7152484" y="1838567"/>
            <a:ext cx="1420016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4E68"/>
                </a:solidFill>
              </a:rPr>
              <a:t>0.1898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2245761"/>
            <a:ext cx="2397621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XGBoost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969121" y="2245761"/>
            <a:ext cx="1377600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0.5428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346721" y="2245761"/>
            <a:ext cx="1209331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0.3676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556052" y="2245761"/>
            <a:ext cx="1596433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0.1238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7152484" y="2245761"/>
            <a:ext cx="142001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0.1852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71500" y="2656526"/>
            <a:ext cx="2397621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Random Forest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969121" y="2656526"/>
            <a:ext cx="1377600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0.5395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346721" y="2656526"/>
            <a:ext cx="1209331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0.3529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5556052" y="2656526"/>
            <a:ext cx="1596433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0.1212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7152484" y="2656526"/>
            <a:ext cx="142001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0.1805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571500" y="3067292"/>
            <a:ext cx="2397621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Logistic Regression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2969121" y="3067292"/>
            <a:ext cx="1377600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0.5312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4346721" y="3067292"/>
            <a:ext cx="1209331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96"/>
                </a:solidFill>
              </a:rPr>
              <a:t>0.4338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5556052" y="3067292"/>
            <a:ext cx="1596433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0.1164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7152484" y="3067292"/>
            <a:ext cx="142001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4E68"/>
                </a:solidFill>
              </a:rPr>
              <a:t>0.1835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571500" y="4067417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LightGBM: Tối ưu tổng thể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571500" y="4376384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Đạt chỉ số ROC AUC cao nhất, thể hiện khả năng phân loại tốt nhất giữa các nhóm bệnh nhân.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714875" y="4067417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Logistic: Độ nhạy cao nhất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4714875" y="4376384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Mặc dù AUC thấp hơn, nhưng Recall vượt trội giúp nhận diện được nhiều ca tái nhập viện nhất.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Tại Sao Chọn LightGBM Làm Mô Hình Chính?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434945"/>
            <a:ext cx="342900" cy="342900"/>
          </a:xfrm>
          <a:prstGeom prst="rect">
            <a:avLst/>
          </a:prstGeom>
          <a:solidFill>
            <a:srgbClr val="0F2C4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534957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7275" y="1577820"/>
            <a:ext cx="3214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Hiệu suất vượt trội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1057275" y="1829637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Đạt ROC AUC 0.5451, cao nhất trong số các mô hình thử nghiệm, tối ưu hóa sự đánh đổi giữa Precision và Recall.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571500" y="2401137"/>
            <a:ext cx="342900" cy="342900"/>
          </a:xfrm>
          <a:prstGeom prst="rect">
            <a:avLst/>
          </a:prstGeom>
          <a:solidFill>
            <a:srgbClr val="0F2C4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2501150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275" y="2544012"/>
            <a:ext cx="3214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Xử lý dữ liệu phi tuyến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1057275" y="2795829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Khả năng học các mối quan hệ phức tạp giữa các chỉ số lâm sàng và nhân khẩu học mà mô hình tuyến tính bỏ sót.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571500" y="3367329"/>
            <a:ext cx="342900" cy="342900"/>
          </a:xfrm>
          <a:prstGeom prst="rect">
            <a:avLst/>
          </a:prstGeom>
          <a:solidFill>
            <a:srgbClr val="0F2C4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72" y="3467342"/>
            <a:ext cx="10715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7275" y="3510204"/>
            <a:ext cx="3214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Tốc độ &amp; Hiệu quả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1057275" y="3762022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Cơ chế Leaf-wise growth giúp hội tụ nhanh và chính xác hơn trên tập dữ liệu lớn với hơn 100,000 bản ghi.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571500" y="4333522"/>
            <a:ext cx="342900" cy="342900"/>
          </a:xfrm>
          <a:prstGeom prst="rect">
            <a:avLst/>
          </a:prstGeom>
          <a:solidFill>
            <a:srgbClr val="0F2C4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3" y="4433534"/>
            <a:ext cx="160734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7275" y="4476397"/>
            <a:ext cx="32146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Tính giải thích cao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1057275" y="4728214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Cung cấp cái nhìn rõ ràng về tầm quan trọng của các đặc trưng, giúp bác sĩ hiểu rõ lý do đằng sau mỗi dự đoán.</a:t>
            </a:r>
            <a:endParaRPr lang="en-US" sz="83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588" y="1434945"/>
            <a:ext cx="3871913" cy="28717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Phân Tích Đặc Trưng Quan Trọng (Feature Importance)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10860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1577820"/>
            <a:ext cx="19939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Biến động phác đồ (Change)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71500" y="1829637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Yếu tố hàng đầu ảnh hưởng đến tái nhập viện; sự thay đổi thuốc cho thấy tình trạng bệnh chưa ổn định.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7046"/>
            <a:ext cx="144661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1886" y="2494006"/>
            <a:ext cx="20981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Sử dụng thuốc (diabetesMed)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571500" y="274582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Chỉ báo mạnh mẽ về mức độ nghiêm trọng của bệnh tiểu đường và nhu cầu can thiệp y tế liên tục.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43232"/>
            <a:ext cx="16073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7959" y="3410192"/>
            <a:ext cx="926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Độ tuổi (Age)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71500" y="3662009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Nguy cơ tăng vọt ở nhóm bệnh nhân trên 70 tuổi do hệ miễn dịch suy giảm và các bệnh lý nền.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9418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85813" y="4326378"/>
            <a:ext cx="12485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Quá trình điều trị</a:t>
            </a:r>
            <a:endParaRPr lang="en-US" sz="987" dirty="0"/>
          </a:p>
        </p:txBody>
      </p:sp>
      <p:sp>
        <p:nvSpPr>
          <p:cNvPr id="15" name="Text 8"/>
          <p:cNvSpPr/>
          <p:nvPr/>
        </p:nvSpPr>
        <p:spPr>
          <a:xfrm>
            <a:off x="571500" y="4578195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Số lượng xét nghiệm và thời gian nằm viện là các chỉ số quan trọng để tinh chỉnh dự báo rủi ro.</a:t>
            </a:r>
            <a:endParaRPr lang="en-US" sz="834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5" y="1434945"/>
            <a:ext cx="3586163" cy="25860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75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Chiến Lược 1: Gói Chăm Sóc Chuyển Tiếp (Tối Ưu ROI)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220632"/>
            <a:ext cx="2033932" cy="31968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220632"/>
            <a:ext cx="2033932" cy="319683"/>
          </a:xfrm>
          <a:prstGeom prst="rect">
            <a:avLst/>
          </a:prstGeom>
          <a:noFill/>
          <a:ln/>
        </p:spPr>
        <p:txBody>
          <a:bodyPr wrap="square" lIns="204089" tIns="102108" rIns="204089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DỰ KIẾN ROI: 69.5%</a:t>
            </a:r>
            <a:endParaRPr lang="en-US" sz="119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74311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047522"/>
            <a:ext cx="14297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Đối tượng mục tiêu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2356489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Bệnh nhân có sự thay đổi đơn thuốc (change = Yes) ngay trước khi xuất viện, nhóm có nguy cơ tái nhập viện cao nhất theo mô hình LightGBM.</a:t>
            </a:r>
            <a:endParaRPr lang="en-US" sz="83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6247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5813" y="3249457"/>
            <a:ext cx="15253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Hành động can thiệp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571500" y="3558425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Thiết lập lộ trình theo dõi 7 ngày đầu tại nhà qua điện thoại hoặc telehealth để kiểm tra việc tuân thủ thuốc mới và các phản ứng phụ.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78182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5813" y="4451393"/>
            <a:ext cx="13463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Mục tiêu lâm sàng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571500" y="4760361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Đảm bảo bệnh nhân ổn định với phác đồ điều trị mới, giảm thiểu các đợt cấp tính do không tương thích thuốc hoặc sai sót trong sử dụng.</a:t>
            </a:r>
            <a:endParaRPr lang="en-US" sz="83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213" y="1220632"/>
            <a:ext cx="3443288" cy="28717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6928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F2C4C"/>
                </a:solidFill>
              </a:rPr>
              <a:t>Chiến Lược 2: Quản Lý Ca Bệnh Cho Người Cao Tuổi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434945"/>
            <a:ext cx="285750" cy="28575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08" y="1513526"/>
            <a:ext cx="16073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577820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Đối tượng mục tiêu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1000125" y="1815350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Bệnh nhân trên 70 tuổi được sàng lọc bởi mô hình Logistic Regression (Recall cao nhất).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571500" y="2329700"/>
            <a:ext cx="285750" cy="28575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5" y="2408281"/>
            <a:ext cx="144661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0125" y="2472575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Hành động cụ thể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1000125" y="2710104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Cử nhân viên y tế quản lý ca bệnh chuyên sâu, phối hợp chặt chẽ với gia đình để đảm bảo an toàn tại nhà.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571500" y="3224454"/>
            <a:ext cx="285750" cy="28575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45" y="3303036"/>
            <a:ext cx="14466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0125" y="3367329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Giá trị mang lại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1000125" y="3604859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Ngăn chặn được số lượng ca tái nhập viện lớn nhất trong cộng đồng, cải thiện chất lượng sống cho người cao tuổi.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571500" y="4119209"/>
            <a:ext cx="285750" cy="28575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" y="4197790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0125" y="4262084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2C4C"/>
                </a:solidFill>
              </a:rPr>
              <a:t>Thách thức vận hành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1000125" y="4499614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Chi phí vận hành cao, cần sự hỗ trợ từ các nguồn lực xã hội, bảo hiểm hoặc trợ cấp chính phủ.</a:t>
            </a:r>
            <a:endParaRPr lang="en-US" sz="83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5" y="1434945"/>
            <a:ext cx="3586163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916" y="851529"/>
            <a:ext cx="777014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spc="2" kern="0" dirty="0">
                <a:solidFill>
                  <a:srgbClr val="0F2C4C"/>
                </a:solidFill>
              </a:rPr>
              <a:t>Kết Luận: Biến Dữ Liệu Thành Hành Động Y Tế</a:t>
            </a:r>
            <a:endParaRPr lang="en-US" sz="201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94" y="1620906"/>
            <a:ext cx="2157413" cy="130016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3183601"/>
            <a:ext cx="228600" cy="2286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71500" y="3655089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2C4C"/>
                </a:solidFill>
              </a:rPr>
              <a:t>Mô hình hóa</a:t>
            </a:r>
            <a:endParaRPr lang="en-US" sz="1090" dirty="0"/>
          </a:p>
        </p:txBody>
      </p:sp>
      <p:sp>
        <p:nvSpPr>
          <p:cNvPr id="7" name="Text 2"/>
          <p:cNvSpPr/>
          <p:nvPr/>
        </p:nvSpPr>
        <p:spPr>
          <a:xfrm>
            <a:off x="657225" y="3926551"/>
            <a:ext cx="2400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LightGBM đạt độ chính xác để tối ưu nguồn lực và dự báo rủi ro.</a:t>
            </a:r>
            <a:endParaRPr lang="en-US" sz="834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988" y="3183601"/>
            <a:ext cx="200025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86125" y="3655089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2C4C"/>
                </a:solidFill>
              </a:rPr>
              <a:t>Can thiệp</a:t>
            </a:r>
            <a:endParaRPr lang="en-US" sz="1090" dirty="0"/>
          </a:p>
        </p:txBody>
      </p:sp>
      <p:sp>
        <p:nvSpPr>
          <p:cNvPr id="10" name="Text 4"/>
          <p:cNvSpPr/>
          <p:nvPr/>
        </p:nvSpPr>
        <p:spPr>
          <a:xfrm>
            <a:off x="3371850" y="3926551"/>
            <a:ext cx="2400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Ưu tiên ổn định phác đồ và chăm sóc nhóm bệnh nhân cao tuổi.</a:t>
            </a:r>
            <a:endParaRPr lang="en-US" sz="83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38" y="3183601"/>
            <a:ext cx="257175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00750" y="3655089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2C4C"/>
                </a:solidFill>
              </a:rPr>
              <a:t>Tầm nhìn</a:t>
            </a:r>
            <a:endParaRPr lang="en-US" sz="1090" dirty="0"/>
          </a:p>
        </p:txBody>
      </p:sp>
      <p:sp>
        <p:nvSpPr>
          <p:cNvPr id="13" name="Text 6"/>
          <p:cNvSpPr/>
          <p:nvPr/>
        </p:nvSpPr>
        <p:spPr>
          <a:xfrm>
            <a:off x="6086475" y="3926551"/>
            <a:ext cx="2400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Kết hợp AI với quy trình lâm sàng cho hệ thống y tế hiệu quả hơn.</a:t>
            </a:r>
            <a:endParaRPr lang="en-US" sz="834" dirty="0"/>
          </a:p>
        </p:txBody>
      </p:sp>
      <p:sp>
        <p:nvSpPr>
          <p:cNvPr id="14" name="Text 7"/>
          <p:cNvSpPr/>
          <p:nvPr/>
        </p:nvSpPr>
        <p:spPr>
          <a:xfrm>
            <a:off x="3582256" y="4435153"/>
            <a:ext cx="1979488" cy="31789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A896"/>
                </a:solidFill>
              </a:rPr>
              <a:t>DỰ ÁN PHÂN TÍCH Y TẾ 2026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2026-01-01T03:24:29Z</dcterms:created>
  <dcterms:modified xsi:type="dcterms:W3CDTF">2026-01-01T03:24:29Z</dcterms:modified>
</cp:coreProperties>
</file>